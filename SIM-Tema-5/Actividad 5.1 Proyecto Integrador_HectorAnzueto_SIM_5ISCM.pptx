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0" r:id="rId2"/>
    <p:sldId id="271" r:id="rId3"/>
    <p:sldId id="272" r:id="rId4"/>
    <p:sldId id="259" r:id="rId5"/>
    <p:sldId id="260" r:id="rId6"/>
    <p:sldId id="262" r:id="rId7"/>
    <p:sldId id="261" r:id="rId8"/>
    <p:sldId id="257" r:id="rId9"/>
    <p:sldId id="263" r:id="rId10"/>
    <p:sldId id="264" r:id="rId11"/>
    <p:sldId id="265" r:id="rId12"/>
    <p:sldId id="266" r:id="rId13"/>
    <p:sldId id="267" r:id="rId14"/>
    <p:sldId id="269" r:id="rId15"/>
    <p:sldId id="273"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AMD" initials="HA" lastIdx="1" clrIdx="0">
    <p:extLst>
      <p:ext uri="{19B8F6BF-5375-455C-9EA6-DF929625EA0E}">
        <p15:presenceInfo xmlns:p15="http://schemas.microsoft.com/office/powerpoint/2012/main" userId="HP AM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5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04T17:55:00.047" idx="1">
    <p:pos x="7680" y="44"/>
    <p:text/>
    <p:extLst>
      <p:ext uri="{C676402C-5697-4E1C-873F-D02D1690AC5C}">
        <p15:threadingInfo xmlns:p15="http://schemas.microsoft.com/office/powerpoint/2012/main" timeZoneBias="3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10-04T17:55:00.047" idx="1">
    <p:pos x="7680" y="44"/>
    <p:text/>
    <p:extLst>
      <p:ext uri="{C676402C-5697-4E1C-873F-D02D1690AC5C}">
        <p15:threadingInfo xmlns:p15="http://schemas.microsoft.com/office/powerpoint/2012/main" timeZoneBias="3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comments" Target="../comments/commen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comments" Target="../comments/commen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646485" y="2245542"/>
            <a:ext cx="6096000" cy="4031873"/>
          </a:xfrm>
          <a:prstGeom prst="rect">
            <a:avLst/>
          </a:prstGeom>
        </p:spPr>
        <p:txBody>
          <a:bodyPr>
            <a:spAutoFit/>
          </a:bodyPr>
          <a:lstStyle/>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Instituto Tecnológico de Frontera Comalapa Modalidad Mixta</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Materia:</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err="1"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Simulacion</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Semestre: </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Quinto</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Carrera:</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Ingeniería en sistemas computacionales</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Numero de control:</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241260005</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Nombre del alumno:</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kern="0" cap="none" spc="0" normalizeH="0" baseline="0" noProof="0" dirty="0" err="1"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Hector</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kern="0" cap="none" spc="0" normalizeH="0" baseline="0" noProof="0" dirty="0" err="1"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Yazid</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kern="0" cap="none" spc="0" normalizeH="0" baseline="0" noProof="0" dirty="0" err="1"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Anzueto</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kern="0" cap="none" spc="0" normalizeH="0" baseline="0" noProof="0" dirty="0" err="1"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Lopez</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Nombre del docente:</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Francisco Javier Velázquez Mingo</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Nombre del trabajo:</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Actividad </a:t>
            </a:r>
            <a:r>
              <a:rPr lang="es-ES" altLang="es-MX" sz="1600" kern="0" dirty="0" smtClean="0">
                <a:solidFill>
                  <a:prstClr val="black"/>
                </a:solidFill>
                <a:latin typeface="Arial" panose="020B0604020202020204" pitchFamily="34" charset="0"/>
                <a:ea typeface="Calibri" panose="020F0502020204030204" pitchFamily="34" charset="0"/>
                <a:cs typeface="Arial" panose="020B0604020202020204" pitchFamily="34" charset="0"/>
              </a:rPr>
              <a:t>5.1</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Proyecto</a:t>
            </a:r>
            <a:r>
              <a:rPr kumimoji="0" lang="es-ES" altLang="es-MX" sz="1600" b="0" i="0" u="none" strike="noStrike" kern="0" cap="none" spc="0" normalizeH="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integrador</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1"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Fecha de entrega:</a:t>
            </a:r>
            <a:endParaRPr kumimoji="0" lang="es-MX" altLang="es-MX" sz="800" b="0" i="0" u="none" strike="noStrike" kern="0" cap="none" spc="0" normalizeH="0" baseline="0" noProof="0" dirty="0" smtClean="0">
              <a:ln>
                <a:noFill/>
              </a:ln>
              <a:solidFill>
                <a:prstClr val="black"/>
              </a:solidFill>
              <a:effectLst/>
              <a:uLnTx/>
              <a:uFillTx/>
            </a:endParaRPr>
          </a:p>
          <a:p>
            <a:pPr marL="0" marR="0" lvl="0" indent="0" algn="ctr" defTabSz="914400" eaLnBrk="0" fontAlgn="base" latinLnBrk="0" hangingPunct="0">
              <a:spcBef>
                <a:spcPct val="0"/>
              </a:spcBef>
              <a:spcAft>
                <a:spcPct val="0"/>
              </a:spcAft>
              <a:buClrTx/>
              <a:buSzTx/>
              <a:buFontTx/>
              <a:buNone/>
              <a:tabLst/>
              <a:defRPr/>
            </a:pP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Frontera Comalapa, Chiapas a </a:t>
            </a:r>
            <a:r>
              <a:rPr lang="es-ES" altLang="es-MX" sz="1600" kern="0" dirty="0" smtClean="0">
                <a:solidFill>
                  <a:prstClr val="black"/>
                </a:solidFill>
                <a:latin typeface="Arial" panose="020B0604020202020204" pitchFamily="34" charset="0"/>
                <a:ea typeface="Calibri" panose="020F0502020204030204" pitchFamily="34" charset="0"/>
                <a:cs typeface="Arial" panose="020B0604020202020204" pitchFamily="34" charset="0"/>
              </a:rPr>
              <a:t>04 de octubre</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kern="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de 2026</a:t>
            </a:r>
            <a:endParaRPr kumimoji="0" lang="es-ES" altLang="es-MX" sz="1800" b="0" i="0" u="none" strike="noStrike" kern="0" cap="none" spc="0" normalizeH="0" baseline="0" noProof="0" dirty="0" smtClean="0">
              <a:ln>
                <a:noFill/>
              </a:ln>
              <a:solidFill>
                <a:prstClr val="black"/>
              </a:solidFill>
              <a:effectLst/>
              <a:uLnTx/>
              <a:uFillTx/>
              <a:latin typeface="Arial" panose="020B0604020202020204" pitchFamily="34" charset="0"/>
            </a:endParaRPr>
          </a:p>
        </p:txBody>
      </p:sp>
      <p:pic>
        <p:nvPicPr>
          <p:cNvPr id="3" name="Image 1"/>
          <p:cNvPicPr>
            <a:picLocks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24235" y="507210"/>
            <a:ext cx="6318250" cy="110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598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Introducción </a:t>
            </a:r>
            <a:endParaRPr lang="es-MX" dirty="0"/>
          </a:p>
        </p:txBody>
      </p:sp>
      <p:sp>
        <p:nvSpPr>
          <p:cNvPr id="3" name="Marcador de contenido 2"/>
          <p:cNvSpPr>
            <a:spLocks noGrp="1"/>
          </p:cNvSpPr>
          <p:nvPr>
            <p:ph idx="1"/>
          </p:nvPr>
        </p:nvSpPr>
        <p:spPr/>
        <p:txBody>
          <a:bodyPr/>
          <a:lstStyle/>
          <a:p>
            <a:r>
              <a:rPr lang="es-MX" dirty="0"/>
              <a:t>En el entorno empresarial actual, la optimización y automatización de procesos de negocio (</a:t>
            </a:r>
            <a:r>
              <a:rPr lang="es-MX" b="1" dirty="0"/>
              <a:t>BPM</a:t>
            </a:r>
            <a:r>
              <a:rPr lang="es-MX" dirty="0"/>
              <a:t>) son pilares fundamentales para garantizar la eficiencia operativa y la competitividad. Este proyecto integrador presenta un análisis práctico y comparativo de diferentes simulaciones de procesos utilizando tres de las plataformas de software de gestión de procesos de negocio (BPMS) más importantes del mercado: </a:t>
            </a:r>
            <a:r>
              <a:rPr lang="es-MX" b="1" dirty="0" err="1"/>
              <a:t>Camunda</a:t>
            </a:r>
            <a:r>
              <a:rPr lang="es-MX" dirty="0"/>
              <a:t>, </a:t>
            </a:r>
            <a:r>
              <a:rPr lang="es-MX" b="1" dirty="0"/>
              <a:t>Bonita</a:t>
            </a:r>
            <a:r>
              <a:rPr lang="es-MX" dirty="0"/>
              <a:t> y </a:t>
            </a:r>
            <a:r>
              <a:rPr lang="es-MX" b="1" dirty="0" err="1"/>
              <a:t>Bizagi</a:t>
            </a:r>
            <a:r>
              <a:rPr lang="es-MX" dirty="0"/>
              <a:t>. A través del diseño y la ejecución de escenarios específicos bajo el estándar </a:t>
            </a:r>
            <a:r>
              <a:rPr lang="es-MX" b="1" dirty="0"/>
              <a:t>BPMN 2.0</a:t>
            </a:r>
            <a:r>
              <a:rPr lang="es-MX" dirty="0"/>
              <a:t>, se examina cómo cada herramienta modela, simula y evalúa el comportamiento de los procesos. El objetivo es identificar sus fortalezas técnicas, capacidades de análisis de cuellos de botella y niveles de flexibilidad ante diferentes flujos de trabajo.</a:t>
            </a:r>
          </a:p>
        </p:txBody>
      </p:sp>
    </p:spTree>
    <p:extLst>
      <p:ext uri="{BB962C8B-B14F-4D97-AF65-F5344CB8AC3E}">
        <p14:creationId xmlns:p14="http://schemas.microsoft.com/office/powerpoint/2010/main" val="1691574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Justificación </a:t>
            </a:r>
            <a:endParaRPr lang="es-MX" dirty="0"/>
          </a:p>
        </p:txBody>
      </p:sp>
      <p:sp>
        <p:nvSpPr>
          <p:cNvPr id="3" name="Marcador de contenido 2"/>
          <p:cNvSpPr>
            <a:spLocks noGrp="1"/>
          </p:cNvSpPr>
          <p:nvPr>
            <p:ph idx="1"/>
          </p:nvPr>
        </p:nvSpPr>
        <p:spPr/>
        <p:txBody>
          <a:bodyPr/>
          <a:lstStyle/>
          <a:p>
            <a:r>
              <a:rPr lang="es-MX" dirty="0"/>
              <a:t>La implementación directa de un proceso automatizado en una organización conlleva altos riesgos financieros y operativos si no se prevén fallas en su diseño. La simulación de procesos surge como una solución crítica que permite experimentar en entornos virtuales controlados antes de la puesta en marcha real. </a:t>
            </a:r>
            <a:r>
              <a:rPr lang="es-MX" dirty="0"/>
              <a:t>Este proyecto se justifica por la necesidad de ofrecer una guía técnica y comparativa</a:t>
            </a:r>
            <a:r>
              <a:rPr lang="es-MX" dirty="0"/>
              <a:t> que ayude a organizaciones y desarrolladores a elegir la herramienta BPMS adecuada según sus objetivos. Mientras que </a:t>
            </a:r>
            <a:r>
              <a:rPr lang="es-MX" dirty="0" err="1"/>
              <a:t>Bizagi</a:t>
            </a:r>
            <a:r>
              <a:rPr lang="es-MX" dirty="0"/>
              <a:t> destaca por su enfoque intuitivo y de bajo código, </a:t>
            </a:r>
            <a:r>
              <a:rPr lang="es-MX" dirty="0" err="1"/>
              <a:t>Camunda</a:t>
            </a:r>
            <a:r>
              <a:rPr lang="es-MX" dirty="0"/>
              <a:t> ofrece una alta flexibilidad para entornos de desarrollo complejos y Bonita equilibra la integración de datos. Evaluar el rendimiento de estas tres plataformas mediante simulaciones permite entender cuál optimiza mejor los recursos, reduce costos y mitiga riesgos en la transformación digital.</a:t>
            </a:r>
          </a:p>
        </p:txBody>
      </p:sp>
    </p:spTree>
    <p:extLst>
      <p:ext uri="{BB962C8B-B14F-4D97-AF65-F5344CB8AC3E}">
        <p14:creationId xmlns:p14="http://schemas.microsoft.com/office/powerpoint/2010/main" val="2423844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6977"/>
            <a:ext cx="5761817" cy="3241023"/>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199" y="3616976"/>
            <a:ext cx="5761817" cy="3241023"/>
          </a:xfrm>
          <a:prstGeom prst="rect">
            <a:avLst/>
          </a:prstGeom>
        </p:spPr>
      </p:pic>
      <p:sp>
        <p:nvSpPr>
          <p:cNvPr id="12" name="CuadroTexto 11"/>
          <p:cNvSpPr txBox="1"/>
          <p:nvPr/>
        </p:nvSpPr>
        <p:spPr>
          <a:xfrm>
            <a:off x="1243584" y="832104"/>
            <a:ext cx="6611112" cy="646331"/>
          </a:xfrm>
          <a:prstGeom prst="rect">
            <a:avLst/>
          </a:prstGeom>
          <a:noFill/>
        </p:spPr>
        <p:txBody>
          <a:bodyPr wrap="square" rtlCol="0">
            <a:spAutoFit/>
          </a:bodyPr>
          <a:lstStyle/>
          <a:p>
            <a:r>
              <a:rPr lang="es-MX" dirty="0" smtClean="0"/>
              <a:t>1.1 Al momento de abrir </a:t>
            </a:r>
            <a:r>
              <a:rPr lang="es-MX" dirty="0" err="1" smtClean="0"/>
              <a:t>bizagi</a:t>
            </a:r>
            <a:r>
              <a:rPr lang="es-MX" dirty="0" smtClean="0"/>
              <a:t> el programa iniciara con un nuevo proyecto y un pool de prueba</a:t>
            </a:r>
            <a:endParaRPr lang="es-MX" dirty="0"/>
          </a:p>
        </p:txBody>
      </p:sp>
      <p:sp>
        <p:nvSpPr>
          <p:cNvPr id="13" name="CuadroTexto 12"/>
          <p:cNvSpPr txBox="1"/>
          <p:nvPr/>
        </p:nvSpPr>
        <p:spPr>
          <a:xfrm>
            <a:off x="292608" y="2176272"/>
            <a:ext cx="5824728" cy="646331"/>
          </a:xfrm>
          <a:prstGeom prst="rect">
            <a:avLst/>
          </a:prstGeom>
          <a:noFill/>
        </p:spPr>
        <p:txBody>
          <a:bodyPr wrap="square" rtlCol="0">
            <a:spAutoFit/>
          </a:bodyPr>
          <a:lstStyle/>
          <a:p>
            <a:r>
              <a:rPr lang="es-MX" dirty="0" smtClean="0"/>
              <a:t>1.2 Dentro del pool arrastrar los elementos desde la barra del lado izquierdo y nombrarlos </a:t>
            </a:r>
            <a:endParaRPr lang="es-MX" dirty="0"/>
          </a:p>
        </p:txBody>
      </p:sp>
      <p:sp>
        <p:nvSpPr>
          <p:cNvPr id="14" name="CuadroTexto 13"/>
          <p:cNvSpPr txBox="1"/>
          <p:nvPr/>
        </p:nvSpPr>
        <p:spPr>
          <a:xfrm>
            <a:off x="512064" y="402337"/>
            <a:ext cx="6675120" cy="369332"/>
          </a:xfrm>
          <a:prstGeom prst="rect">
            <a:avLst/>
          </a:prstGeom>
          <a:noFill/>
        </p:spPr>
        <p:txBody>
          <a:bodyPr wrap="square" rtlCol="0">
            <a:spAutoFit/>
          </a:bodyPr>
          <a:lstStyle/>
          <a:p>
            <a:r>
              <a:rPr lang="es-MX" dirty="0" smtClean="0"/>
              <a:t>1. Generar el diagrama del proyecto que se desea simular </a:t>
            </a:r>
            <a:endParaRPr lang="es-MX" dirty="0"/>
          </a:p>
        </p:txBody>
      </p:sp>
    </p:spTree>
    <p:extLst>
      <p:ext uri="{BB962C8B-B14F-4D97-AF65-F5344CB8AC3E}">
        <p14:creationId xmlns:p14="http://schemas.microsoft.com/office/powerpoint/2010/main" val="2785076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464169"/>
            <a:ext cx="6033475" cy="3393831"/>
          </a:xfrm>
          <a:prstGeom prst="rect">
            <a:avLst/>
          </a:prstGeo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8523" y="3464169"/>
            <a:ext cx="6033477" cy="3393831"/>
          </a:xfrm>
          <a:prstGeom prst="rect">
            <a:avLst/>
          </a:prstGeom>
        </p:spPr>
      </p:pic>
      <p:sp>
        <p:nvSpPr>
          <p:cNvPr id="12" name="CuadroTexto 11"/>
          <p:cNvSpPr txBox="1"/>
          <p:nvPr/>
        </p:nvSpPr>
        <p:spPr>
          <a:xfrm>
            <a:off x="360484" y="1160585"/>
            <a:ext cx="5539154" cy="1754326"/>
          </a:xfrm>
          <a:prstGeom prst="rect">
            <a:avLst/>
          </a:prstGeom>
          <a:noFill/>
        </p:spPr>
        <p:txBody>
          <a:bodyPr wrap="square" rtlCol="0">
            <a:spAutoFit/>
          </a:bodyPr>
          <a:lstStyle/>
          <a:p>
            <a:r>
              <a:rPr lang="es-MX" dirty="0" smtClean="0"/>
              <a:t>3. Una vez colocado el elemento de inicio al colocar el cursor sobre este se desplegara un menú donde se mostrara los diferentes elementos a los que se puede unir cada componente(</a:t>
            </a:r>
            <a:r>
              <a:rPr lang="es-MX" dirty="0" err="1" smtClean="0"/>
              <a:t>eventos,tareas</a:t>
            </a:r>
            <a:r>
              <a:rPr lang="es-MX" dirty="0" smtClean="0"/>
              <a:t> y compuertas) al momento de seleccionar uno  de estos aparecerá ya conectado al evento anterior</a:t>
            </a:r>
            <a:endParaRPr lang="es-MX" dirty="0"/>
          </a:p>
        </p:txBody>
      </p:sp>
    </p:spTree>
    <p:extLst>
      <p:ext uri="{BB962C8B-B14F-4D97-AF65-F5344CB8AC3E}">
        <p14:creationId xmlns:p14="http://schemas.microsoft.com/office/powerpoint/2010/main" val="318910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4673" y="70218"/>
            <a:ext cx="5727327" cy="3221622"/>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57601"/>
            <a:ext cx="5689598" cy="3200400"/>
          </a:xfrm>
          <a:prstGeom prst="rect">
            <a:avLst/>
          </a:prstGeom>
        </p:spPr>
      </p:pic>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6281" y="3657600"/>
            <a:ext cx="5730375" cy="3223337"/>
          </a:xfrm>
          <a:prstGeom prst="rect">
            <a:avLst/>
          </a:prstGeom>
        </p:spPr>
      </p:pic>
      <p:sp>
        <p:nvSpPr>
          <p:cNvPr id="2" name="CuadroTexto 1"/>
          <p:cNvSpPr txBox="1"/>
          <p:nvPr/>
        </p:nvSpPr>
        <p:spPr>
          <a:xfrm>
            <a:off x="263769" y="1080864"/>
            <a:ext cx="5849211" cy="1200329"/>
          </a:xfrm>
          <a:prstGeom prst="rect">
            <a:avLst/>
          </a:prstGeom>
          <a:noFill/>
        </p:spPr>
        <p:txBody>
          <a:bodyPr wrap="square" rtlCol="0">
            <a:spAutoFit/>
          </a:bodyPr>
          <a:lstStyle/>
          <a:p>
            <a:r>
              <a:rPr lang="es-MX" dirty="0" smtClean="0"/>
              <a:t>4. Crear los diferentes pools como se muestra el ejemplo a continuación y conectarlos entre si por medio de los eventos de mensaje y el conector de mensaje</a:t>
            </a:r>
            <a:endParaRPr lang="es-MX" dirty="0"/>
          </a:p>
        </p:txBody>
      </p:sp>
    </p:spTree>
    <p:extLst>
      <p:ext uri="{BB962C8B-B14F-4D97-AF65-F5344CB8AC3E}">
        <p14:creationId xmlns:p14="http://schemas.microsoft.com/office/powerpoint/2010/main" val="882170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10" y="3330464"/>
            <a:ext cx="5790236" cy="3257009"/>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9719" y="3330463"/>
            <a:ext cx="5060765" cy="2846681"/>
          </a:xfrm>
          <a:prstGeom prst="rect">
            <a:avLst/>
          </a:prstGeom>
        </p:spPr>
      </p:pic>
      <p:pic>
        <p:nvPicPr>
          <p:cNvPr id="12" name="Imagen 11"/>
          <p:cNvPicPr>
            <a:picLocks noChangeAspect="1"/>
          </p:cNvPicPr>
          <p:nvPr/>
        </p:nvPicPr>
        <p:blipFill rotWithShape="1">
          <a:blip r:embed="rId2">
            <a:extLst>
              <a:ext uri="{28A0092B-C50C-407E-A947-70E740481C1C}">
                <a14:useLocalDpi xmlns:a14="http://schemas.microsoft.com/office/drawing/2010/main" val="0"/>
              </a:ext>
            </a:extLst>
          </a:blip>
          <a:srcRect r="81137" b="82217"/>
          <a:stretch/>
        </p:blipFill>
        <p:spPr>
          <a:xfrm>
            <a:off x="7040672" y="836379"/>
            <a:ext cx="3580436" cy="1898648"/>
          </a:xfrm>
          <a:prstGeom prst="rect">
            <a:avLst/>
          </a:prstGeom>
        </p:spPr>
      </p:pic>
      <p:sp>
        <p:nvSpPr>
          <p:cNvPr id="2" name="CuadroTexto 1"/>
          <p:cNvSpPr txBox="1"/>
          <p:nvPr/>
        </p:nvSpPr>
        <p:spPr>
          <a:xfrm>
            <a:off x="237392" y="624254"/>
            <a:ext cx="6005146" cy="923330"/>
          </a:xfrm>
          <a:prstGeom prst="rect">
            <a:avLst/>
          </a:prstGeom>
          <a:noFill/>
        </p:spPr>
        <p:txBody>
          <a:bodyPr wrap="square" rtlCol="0">
            <a:spAutoFit/>
          </a:bodyPr>
          <a:lstStyle/>
          <a:p>
            <a:r>
              <a:rPr lang="es-MX" dirty="0" smtClean="0"/>
              <a:t>5. Al seleccionar la opción de vista de simulación se puede iniciar la simulación o mostrar cualquier posible error en el diagrama</a:t>
            </a:r>
            <a:endParaRPr lang="es-MX" dirty="0"/>
          </a:p>
        </p:txBody>
      </p:sp>
      <p:sp>
        <p:nvSpPr>
          <p:cNvPr id="3" name="CuadroTexto 2"/>
          <p:cNvSpPr txBox="1"/>
          <p:nvPr/>
        </p:nvSpPr>
        <p:spPr>
          <a:xfrm>
            <a:off x="100610" y="2250831"/>
            <a:ext cx="6502413" cy="646331"/>
          </a:xfrm>
          <a:prstGeom prst="rect">
            <a:avLst/>
          </a:prstGeom>
          <a:noFill/>
        </p:spPr>
        <p:txBody>
          <a:bodyPr wrap="square" rtlCol="0">
            <a:spAutoFit/>
          </a:bodyPr>
          <a:lstStyle/>
          <a:p>
            <a:r>
              <a:rPr lang="es-MX" dirty="0" smtClean="0"/>
              <a:t>6. Una vez se solucionen los errores se puede iniciar la </a:t>
            </a:r>
            <a:r>
              <a:rPr lang="es-MX" dirty="0" err="1" smtClean="0"/>
              <a:t>simulacion</a:t>
            </a:r>
            <a:endParaRPr lang="es-MX" dirty="0"/>
          </a:p>
        </p:txBody>
      </p:sp>
    </p:spTree>
    <p:extLst>
      <p:ext uri="{BB962C8B-B14F-4D97-AF65-F5344CB8AC3E}">
        <p14:creationId xmlns:p14="http://schemas.microsoft.com/office/powerpoint/2010/main" val="1489292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34653"/>
            <a:ext cx="5416062" cy="3046536"/>
          </a:xfrm>
          <a:prstGeom prst="rect">
            <a:avLst/>
          </a:prstGeo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1763" y="3434653"/>
            <a:ext cx="4860022" cy="2733763"/>
          </a:xfrm>
          <a:prstGeom prst="rect">
            <a:avLst/>
          </a:prstGeom>
        </p:spPr>
      </p:pic>
      <p:sp>
        <p:nvSpPr>
          <p:cNvPr id="15" name="CuadroTexto 14"/>
          <p:cNvSpPr txBox="1"/>
          <p:nvPr/>
        </p:nvSpPr>
        <p:spPr>
          <a:xfrm>
            <a:off x="512064" y="402337"/>
            <a:ext cx="6675120" cy="369332"/>
          </a:xfrm>
          <a:prstGeom prst="rect">
            <a:avLst/>
          </a:prstGeom>
          <a:noFill/>
        </p:spPr>
        <p:txBody>
          <a:bodyPr wrap="square" rtlCol="0">
            <a:spAutoFit/>
          </a:bodyPr>
          <a:lstStyle/>
          <a:p>
            <a:r>
              <a:rPr lang="es-MX" dirty="0" smtClean="0"/>
              <a:t>1. Generar el diagrama del proyecto que se desea simular </a:t>
            </a:r>
            <a:endParaRPr lang="es-MX" dirty="0"/>
          </a:p>
        </p:txBody>
      </p:sp>
      <p:sp>
        <p:nvSpPr>
          <p:cNvPr id="16" name="CuadroTexto 15"/>
          <p:cNvSpPr txBox="1"/>
          <p:nvPr/>
        </p:nvSpPr>
        <p:spPr>
          <a:xfrm>
            <a:off x="512064" y="804629"/>
            <a:ext cx="6611112" cy="1200329"/>
          </a:xfrm>
          <a:prstGeom prst="rect">
            <a:avLst/>
          </a:prstGeom>
          <a:noFill/>
        </p:spPr>
        <p:txBody>
          <a:bodyPr wrap="square" rtlCol="0">
            <a:spAutoFit/>
          </a:bodyPr>
          <a:lstStyle/>
          <a:p>
            <a:r>
              <a:rPr lang="es-MX" dirty="0" smtClean="0"/>
              <a:t>1.1 Al momento de abrir </a:t>
            </a:r>
            <a:r>
              <a:rPr lang="es-MX" dirty="0" err="1" smtClean="0"/>
              <a:t>camunda</a:t>
            </a:r>
            <a:r>
              <a:rPr lang="es-MX" dirty="0" smtClean="0"/>
              <a:t> el programa iniciara con un nuevo proyecto sin ningún elemento, si se desea se puede abrir un nuevo diagrama con el botón “+” en la parte superior de la pantalla</a:t>
            </a:r>
            <a:endParaRPr lang="es-MX" dirty="0"/>
          </a:p>
        </p:txBody>
      </p:sp>
      <p:sp>
        <p:nvSpPr>
          <p:cNvPr id="17" name="CuadroTexto 16"/>
          <p:cNvSpPr txBox="1"/>
          <p:nvPr/>
        </p:nvSpPr>
        <p:spPr>
          <a:xfrm>
            <a:off x="512064" y="1955195"/>
            <a:ext cx="5824728" cy="1200329"/>
          </a:xfrm>
          <a:prstGeom prst="rect">
            <a:avLst/>
          </a:prstGeom>
          <a:noFill/>
        </p:spPr>
        <p:txBody>
          <a:bodyPr wrap="square" rtlCol="0">
            <a:spAutoFit/>
          </a:bodyPr>
          <a:lstStyle/>
          <a:p>
            <a:r>
              <a:rPr lang="es-MX" dirty="0" smtClean="0"/>
              <a:t>1.2 Dentro del área de trabajo arrastrar los elementos desde la barra del lado izquierdo y nombrarlos inicia agregando el pool y después un evento de inicio y las diferentes tareas</a:t>
            </a:r>
            <a:endParaRPr lang="es-MX" dirty="0"/>
          </a:p>
        </p:txBody>
      </p:sp>
    </p:spTree>
    <p:extLst>
      <p:ext uri="{BB962C8B-B14F-4D97-AF65-F5344CB8AC3E}">
        <p14:creationId xmlns:p14="http://schemas.microsoft.com/office/powerpoint/2010/main" val="2302104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p:cNvSpPr txBox="1"/>
          <p:nvPr/>
        </p:nvSpPr>
        <p:spPr>
          <a:xfrm>
            <a:off x="177604" y="124265"/>
            <a:ext cx="5539154" cy="1754326"/>
          </a:xfrm>
          <a:prstGeom prst="rect">
            <a:avLst/>
          </a:prstGeom>
          <a:noFill/>
        </p:spPr>
        <p:txBody>
          <a:bodyPr wrap="square" rtlCol="0">
            <a:spAutoFit/>
          </a:bodyPr>
          <a:lstStyle/>
          <a:p>
            <a:r>
              <a:rPr lang="es-MX" dirty="0" smtClean="0"/>
              <a:t>3. Una vez colocado el elemento de inicio al colocar el cursor sobre este se desplegara un menú donde se mostrara los diferentes elementos a los que se puede unir cada componente(</a:t>
            </a:r>
            <a:r>
              <a:rPr lang="es-MX" dirty="0" err="1" smtClean="0"/>
              <a:t>eventos,tareas</a:t>
            </a:r>
            <a:r>
              <a:rPr lang="es-MX" dirty="0" smtClean="0"/>
              <a:t> y compuertas) al momento de seleccionar uno  de estos aparecerá ya conectado al evento anterior</a:t>
            </a:r>
            <a:endParaRPr lang="es-MX" dirty="0"/>
          </a:p>
        </p:txBody>
      </p:sp>
      <p:pic>
        <p:nvPicPr>
          <p:cNvPr id="8" name="Imagen 7"/>
          <p:cNvPicPr>
            <a:picLocks noChangeAspect="1"/>
          </p:cNvPicPr>
          <p:nvPr/>
        </p:nvPicPr>
        <p:blipFill>
          <a:blip r:embed="rId2"/>
          <a:stretch>
            <a:fillRect/>
          </a:stretch>
        </p:blipFill>
        <p:spPr>
          <a:xfrm>
            <a:off x="284871" y="2160876"/>
            <a:ext cx="7563729" cy="4254597"/>
          </a:xfrm>
          <a:prstGeom prst="rect">
            <a:avLst/>
          </a:prstGeom>
        </p:spPr>
      </p:pic>
    </p:spTree>
    <p:extLst>
      <p:ext uri="{BB962C8B-B14F-4D97-AF65-F5344CB8AC3E}">
        <p14:creationId xmlns:p14="http://schemas.microsoft.com/office/powerpoint/2010/main" val="355761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55209" y="821784"/>
            <a:ext cx="5849211" cy="1200329"/>
          </a:xfrm>
          <a:prstGeom prst="rect">
            <a:avLst/>
          </a:prstGeom>
          <a:noFill/>
        </p:spPr>
        <p:txBody>
          <a:bodyPr wrap="square" rtlCol="0">
            <a:spAutoFit/>
          </a:bodyPr>
          <a:lstStyle/>
          <a:p>
            <a:r>
              <a:rPr lang="es-MX" dirty="0" smtClean="0"/>
              <a:t>4. Crear los diferentes pools como se muestra el ejemplo a continuación y conectarlos entre si por medio de los eventos de mensaje y el conector de mensaje</a:t>
            </a:r>
            <a:endParaRPr lang="es-MX"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7960" y="228599"/>
            <a:ext cx="5521680" cy="3105945"/>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60" y="3515638"/>
            <a:ext cx="5521680" cy="3105945"/>
          </a:xfrm>
          <a:prstGeom prst="rect">
            <a:avLst/>
          </a:prstGeom>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0320" y="3515639"/>
            <a:ext cx="5521680" cy="3105945"/>
          </a:xfrm>
          <a:prstGeom prst="rect">
            <a:avLst/>
          </a:prstGeom>
        </p:spPr>
      </p:pic>
    </p:spTree>
    <p:extLst>
      <p:ext uri="{BB962C8B-B14F-4D97-AF65-F5344CB8AC3E}">
        <p14:creationId xmlns:p14="http://schemas.microsoft.com/office/powerpoint/2010/main" val="3520700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uadroTexto 11"/>
          <p:cNvSpPr txBox="1"/>
          <p:nvPr/>
        </p:nvSpPr>
        <p:spPr>
          <a:xfrm>
            <a:off x="1243584" y="832104"/>
            <a:ext cx="6611112" cy="646331"/>
          </a:xfrm>
          <a:prstGeom prst="rect">
            <a:avLst/>
          </a:prstGeom>
          <a:noFill/>
        </p:spPr>
        <p:txBody>
          <a:bodyPr wrap="square" rtlCol="0">
            <a:spAutoFit/>
          </a:bodyPr>
          <a:lstStyle/>
          <a:p>
            <a:r>
              <a:rPr lang="es-MX" dirty="0" smtClean="0"/>
              <a:t>1.1 Al momento de abrir </a:t>
            </a:r>
            <a:r>
              <a:rPr lang="es-MX" dirty="0" err="1" smtClean="0"/>
              <a:t>bonitai</a:t>
            </a:r>
            <a:r>
              <a:rPr lang="es-MX" dirty="0" smtClean="0"/>
              <a:t> el programa iniciara con un nuevo proyecto y un pool de prueba</a:t>
            </a:r>
            <a:endParaRPr lang="es-MX" dirty="0"/>
          </a:p>
        </p:txBody>
      </p:sp>
      <p:sp>
        <p:nvSpPr>
          <p:cNvPr id="13" name="CuadroTexto 12"/>
          <p:cNvSpPr txBox="1"/>
          <p:nvPr/>
        </p:nvSpPr>
        <p:spPr>
          <a:xfrm>
            <a:off x="292608" y="2176272"/>
            <a:ext cx="5824728" cy="646331"/>
          </a:xfrm>
          <a:prstGeom prst="rect">
            <a:avLst/>
          </a:prstGeom>
          <a:noFill/>
        </p:spPr>
        <p:txBody>
          <a:bodyPr wrap="square" rtlCol="0">
            <a:spAutoFit/>
          </a:bodyPr>
          <a:lstStyle/>
          <a:p>
            <a:r>
              <a:rPr lang="es-MX" dirty="0" smtClean="0"/>
              <a:t>1.2 Dentro del pool arrastrar los elementos desde la barra del lado izquierdo y nombrarlos </a:t>
            </a:r>
            <a:endParaRPr lang="es-MX" dirty="0"/>
          </a:p>
        </p:txBody>
      </p:sp>
      <p:sp>
        <p:nvSpPr>
          <p:cNvPr id="14" name="CuadroTexto 13"/>
          <p:cNvSpPr txBox="1"/>
          <p:nvPr/>
        </p:nvSpPr>
        <p:spPr>
          <a:xfrm>
            <a:off x="512064" y="402337"/>
            <a:ext cx="6675120" cy="369332"/>
          </a:xfrm>
          <a:prstGeom prst="rect">
            <a:avLst/>
          </a:prstGeom>
          <a:noFill/>
        </p:spPr>
        <p:txBody>
          <a:bodyPr wrap="square" rtlCol="0">
            <a:spAutoFit/>
          </a:bodyPr>
          <a:lstStyle/>
          <a:p>
            <a:r>
              <a:rPr lang="es-MX" dirty="0" smtClean="0"/>
              <a:t>1. Generar el diagrama del proyecto que se desea simular </a:t>
            </a:r>
            <a:endParaRPr lang="es-MX" dirty="0"/>
          </a:p>
        </p:txBody>
      </p:sp>
      <p:pic>
        <p:nvPicPr>
          <p:cNvPr id="4" name="Imagen 3"/>
          <p:cNvPicPr>
            <a:picLocks noChangeAspect="1"/>
          </p:cNvPicPr>
          <p:nvPr/>
        </p:nvPicPr>
        <p:blipFill>
          <a:blip r:embed="rId2"/>
          <a:stretch>
            <a:fillRect/>
          </a:stretch>
        </p:blipFill>
        <p:spPr>
          <a:xfrm>
            <a:off x="292608" y="3123211"/>
            <a:ext cx="6387931" cy="3593211"/>
          </a:xfrm>
          <a:prstGeom prst="rect">
            <a:avLst/>
          </a:prstGeom>
        </p:spPr>
      </p:pic>
      <p:pic>
        <p:nvPicPr>
          <p:cNvPr id="5" name="Imagen 4"/>
          <p:cNvPicPr>
            <a:picLocks noChangeAspect="1"/>
          </p:cNvPicPr>
          <p:nvPr/>
        </p:nvPicPr>
        <p:blipFill>
          <a:blip r:embed="rId3"/>
          <a:stretch>
            <a:fillRect/>
          </a:stretch>
        </p:blipFill>
        <p:spPr>
          <a:xfrm>
            <a:off x="7010400" y="3123210"/>
            <a:ext cx="5181599" cy="2914649"/>
          </a:xfrm>
          <a:prstGeom prst="rect">
            <a:avLst/>
          </a:prstGeom>
        </p:spPr>
      </p:pic>
    </p:spTree>
    <p:extLst>
      <p:ext uri="{BB962C8B-B14F-4D97-AF65-F5344CB8AC3E}">
        <p14:creationId xmlns:p14="http://schemas.microsoft.com/office/powerpoint/2010/main" val="8299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uadroTexto 11"/>
          <p:cNvSpPr txBox="1"/>
          <p:nvPr/>
        </p:nvSpPr>
        <p:spPr>
          <a:xfrm>
            <a:off x="208084" y="322385"/>
            <a:ext cx="5539154" cy="1754326"/>
          </a:xfrm>
          <a:prstGeom prst="rect">
            <a:avLst/>
          </a:prstGeom>
          <a:noFill/>
        </p:spPr>
        <p:txBody>
          <a:bodyPr wrap="square" rtlCol="0">
            <a:spAutoFit/>
          </a:bodyPr>
          <a:lstStyle/>
          <a:p>
            <a:r>
              <a:rPr lang="es-MX" dirty="0" smtClean="0"/>
              <a:t>3. Una vez colocado el elemento de inicio al colocar el cursor sobre este se desplegara un menú donde se mostrara los diferentes elementos a los que se puede unir cada componente(</a:t>
            </a:r>
            <a:r>
              <a:rPr lang="es-MX" dirty="0" err="1" smtClean="0"/>
              <a:t>eventos,tareas</a:t>
            </a:r>
            <a:r>
              <a:rPr lang="es-MX" dirty="0" smtClean="0"/>
              <a:t> y compuertas) al momento de seleccionar uno  de estos aparecerá ya conectado al evento anterior</a:t>
            </a:r>
            <a:endParaRPr lang="es-MX" dirty="0"/>
          </a:p>
        </p:txBody>
      </p:sp>
      <p:pic>
        <p:nvPicPr>
          <p:cNvPr id="7" name="Imagen 6"/>
          <p:cNvPicPr>
            <a:picLocks noChangeAspect="1"/>
          </p:cNvPicPr>
          <p:nvPr/>
        </p:nvPicPr>
        <p:blipFill>
          <a:blip r:embed="rId2"/>
          <a:stretch>
            <a:fillRect/>
          </a:stretch>
        </p:blipFill>
        <p:spPr>
          <a:xfrm>
            <a:off x="0" y="3413761"/>
            <a:ext cx="6123094" cy="3444240"/>
          </a:xfrm>
          <a:prstGeom prst="rect">
            <a:avLst/>
          </a:prstGeom>
        </p:spPr>
      </p:pic>
    </p:spTree>
    <p:extLst>
      <p:ext uri="{BB962C8B-B14F-4D97-AF65-F5344CB8AC3E}">
        <p14:creationId xmlns:p14="http://schemas.microsoft.com/office/powerpoint/2010/main" val="1379981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63769" y="1080864"/>
            <a:ext cx="5849211" cy="1200329"/>
          </a:xfrm>
          <a:prstGeom prst="rect">
            <a:avLst/>
          </a:prstGeom>
          <a:noFill/>
        </p:spPr>
        <p:txBody>
          <a:bodyPr wrap="square" rtlCol="0">
            <a:spAutoFit/>
          </a:bodyPr>
          <a:lstStyle/>
          <a:p>
            <a:r>
              <a:rPr lang="es-MX" dirty="0" smtClean="0"/>
              <a:t>4. Crear los diferentes pools como se muestra el ejemplo a continuación y conectarlos entre si por medio de los eventos de mensaje y el conector de mensaje</a:t>
            </a:r>
            <a:endParaRPr lang="es-MX"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2980" y="0"/>
            <a:ext cx="6171383" cy="3471405"/>
          </a:xfrm>
          <a:prstGeom prst="rect">
            <a:avLst/>
          </a:prstGeom>
        </p:spPr>
      </p:pic>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4" y="3415312"/>
            <a:ext cx="6120334" cy="3442688"/>
          </a:xfrm>
          <a:prstGeom prst="rect">
            <a:avLst/>
          </a:prstGeom>
        </p:spPr>
      </p:pic>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128" y="3471404"/>
            <a:ext cx="6020612" cy="3386595"/>
          </a:xfrm>
          <a:prstGeom prst="rect">
            <a:avLst/>
          </a:prstGeom>
        </p:spPr>
      </p:pic>
    </p:spTree>
    <p:extLst>
      <p:ext uri="{BB962C8B-B14F-4D97-AF65-F5344CB8AC3E}">
        <p14:creationId xmlns:p14="http://schemas.microsoft.com/office/powerpoint/2010/main" val="3281708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p:cNvGraphicFramePr>
            <a:graphicFrameLocks noGrp="1"/>
          </p:cNvGraphicFramePr>
          <p:nvPr>
            <p:extLst>
              <p:ext uri="{D42A27DB-BD31-4B8C-83A1-F6EECF244321}">
                <p14:modId xmlns:p14="http://schemas.microsoft.com/office/powerpoint/2010/main" val="1269968222"/>
              </p:ext>
            </p:extLst>
          </p:nvPr>
        </p:nvGraphicFramePr>
        <p:xfrm>
          <a:off x="975359" y="1158241"/>
          <a:ext cx="7299960" cy="5227318"/>
        </p:xfrm>
        <a:graphic>
          <a:graphicData uri="http://schemas.openxmlformats.org/drawingml/2006/table">
            <a:tbl>
              <a:tblPr firstRow="1" firstCol="1" bandRow="1">
                <a:tableStyleId>{5C22544A-7EE6-4342-B048-85BDC9FD1C3A}</a:tableStyleId>
              </a:tblPr>
              <a:tblGrid>
                <a:gridCol w="1824990">
                  <a:extLst>
                    <a:ext uri="{9D8B030D-6E8A-4147-A177-3AD203B41FA5}">
                      <a16:colId xmlns:a16="http://schemas.microsoft.com/office/drawing/2014/main" val="4246149769"/>
                    </a:ext>
                  </a:extLst>
                </a:gridCol>
                <a:gridCol w="1824990">
                  <a:extLst>
                    <a:ext uri="{9D8B030D-6E8A-4147-A177-3AD203B41FA5}">
                      <a16:colId xmlns:a16="http://schemas.microsoft.com/office/drawing/2014/main" val="4068447868"/>
                    </a:ext>
                  </a:extLst>
                </a:gridCol>
                <a:gridCol w="1824990">
                  <a:extLst>
                    <a:ext uri="{9D8B030D-6E8A-4147-A177-3AD203B41FA5}">
                      <a16:colId xmlns:a16="http://schemas.microsoft.com/office/drawing/2014/main" val="3707493150"/>
                    </a:ext>
                  </a:extLst>
                </a:gridCol>
                <a:gridCol w="1824990">
                  <a:extLst>
                    <a:ext uri="{9D8B030D-6E8A-4147-A177-3AD203B41FA5}">
                      <a16:colId xmlns:a16="http://schemas.microsoft.com/office/drawing/2014/main" val="2929997946"/>
                    </a:ext>
                  </a:extLst>
                </a:gridCol>
              </a:tblGrid>
              <a:tr h="247448">
                <a:tc>
                  <a:txBody>
                    <a:bodyPr/>
                    <a:lstStyle/>
                    <a:p>
                      <a:pPr algn="just">
                        <a:lnSpc>
                          <a:spcPct val="150000"/>
                        </a:lnSpc>
                        <a:spcAft>
                          <a:spcPts val="0"/>
                        </a:spcAft>
                      </a:pPr>
                      <a:r>
                        <a:rPr lang="es-MX" sz="800">
                          <a:effectLst/>
                        </a:rPr>
                        <a:t> </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just">
                        <a:lnSpc>
                          <a:spcPct val="150000"/>
                        </a:lnSpc>
                        <a:spcAft>
                          <a:spcPts val="0"/>
                        </a:spcAft>
                      </a:pPr>
                      <a:r>
                        <a:rPr lang="es-MX" sz="800">
                          <a:effectLst/>
                        </a:rPr>
                        <a:t> </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just">
                        <a:lnSpc>
                          <a:spcPct val="150000"/>
                        </a:lnSpc>
                        <a:spcAft>
                          <a:spcPts val="0"/>
                        </a:spcAft>
                      </a:pPr>
                      <a:r>
                        <a:rPr lang="es-MX" sz="800">
                          <a:effectLst/>
                        </a:rPr>
                        <a:t> </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just">
                        <a:lnSpc>
                          <a:spcPct val="150000"/>
                        </a:lnSpc>
                        <a:spcAft>
                          <a:spcPts val="0"/>
                        </a:spcAft>
                      </a:pPr>
                      <a:r>
                        <a:rPr lang="es-MX" sz="800">
                          <a:effectLst/>
                        </a:rPr>
                        <a:t> </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3949047023"/>
                  </a:ext>
                </a:extLst>
              </a:tr>
              <a:tr h="216516">
                <a:tc>
                  <a:txBody>
                    <a:bodyPr/>
                    <a:lstStyle/>
                    <a:p>
                      <a:pPr algn="ctr">
                        <a:lnSpc>
                          <a:spcPct val="150000"/>
                        </a:lnSpc>
                        <a:spcAft>
                          <a:spcPts val="0"/>
                        </a:spcAft>
                      </a:pPr>
                      <a:r>
                        <a:rPr lang="es-MX" sz="700">
                          <a:effectLst/>
                        </a:rPr>
                        <a:t>Característica</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ctr">
                        <a:lnSpc>
                          <a:spcPct val="150000"/>
                        </a:lnSpc>
                        <a:spcAft>
                          <a:spcPts val="0"/>
                        </a:spcAft>
                      </a:pPr>
                      <a:r>
                        <a:rPr lang="es-MX" sz="700">
                          <a:effectLst/>
                        </a:rPr>
                        <a:t>Bizagi</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ctr">
                        <a:lnSpc>
                          <a:spcPct val="150000"/>
                        </a:lnSpc>
                        <a:spcAft>
                          <a:spcPts val="0"/>
                        </a:spcAft>
                      </a:pPr>
                      <a:r>
                        <a:rPr lang="es-MX" sz="700">
                          <a:effectLst/>
                        </a:rPr>
                        <a:t>Bonita</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ctr">
                        <a:lnSpc>
                          <a:spcPct val="150000"/>
                        </a:lnSpc>
                        <a:spcAft>
                          <a:spcPts val="0"/>
                        </a:spcAft>
                      </a:pPr>
                      <a:r>
                        <a:rPr lang="es-MX" sz="700">
                          <a:effectLst/>
                        </a:rPr>
                        <a:t>Camunda</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1748637814"/>
                  </a:ext>
                </a:extLst>
              </a:tr>
              <a:tr h="866064">
                <a:tc>
                  <a:txBody>
                    <a:bodyPr/>
                    <a:lstStyle/>
                    <a:p>
                      <a:pPr algn="l">
                        <a:lnSpc>
                          <a:spcPct val="150000"/>
                        </a:lnSpc>
                        <a:spcAft>
                          <a:spcPts val="0"/>
                        </a:spcAft>
                      </a:pPr>
                      <a:r>
                        <a:rPr lang="es-MX" sz="700">
                          <a:effectLst/>
                        </a:rPr>
                        <a:t>Enfoque principal</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BPM tradicional y agilidad de negocio con bajo código (low-code).</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Desarrollo ágil con fuerte base open-source y extensibilidad Java.</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Orquestación de microservicios y alta escalabilidad técnica.</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1688122396"/>
                  </a:ext>
                </a:extLst>
              </a:tr>
              <a:tr h="866064">
                <a:tc>
                  <a:txBody>
                    <a:bodyPr/>
                    <a:lstStyle/>
                    <a:p>
                      <a:pPr algn="l">
                        <a:lnSpc>
                          <a:spcPct val="150000"/>
                        </a:lnSpc>
                        <a:spcAft>
                          <a:spcPts val="0"/>
                        </a:spcAft>
                      </a:pPr>
                      <a:r>
                        <a:rPr lang="es-MX" sz="700">
                          <a:effectLst/>
                        </a:rPr>
                        <a:t>Público ideal</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Analistas de procesos y usuarios de negocio (Citizen Developers).</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Desarrolladores Java y equipos que buscan código abierto extensible.</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Ingenieros de software y arquitectos de sistemas avanzados.</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3431460727"/>
                  </a:ext>
                </a:extLst>
              </a:tr>
              <a:tr h="1082581">
                <a:tc>
                  <a:txBody>
                    <a:bodyPr/>
                    <a:lstStyle/>
                    <a:p>
                      <a:pPr algn="l">
                        <a:lnSpc>
                          <a:spcPct val="150000"/>
                        </a:lnSpc>
                        <a:spcAft>
                          <a:spcPts val="0"/>
                        </a:spcAft>
                      </a:pPr>
                      <a:r>
                        <a:rPr lang="es-MX" sz="700">
                          <a:effectLst/>
                        </a:rPr>
                        <a:t>Curva de aprendizaje</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Baja/Media: Muy intuitivo para modelar y configurar sin programar tanto.</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dirty="0">
                          <a:effectLst/>
                        </a:rPr>
                        <a:t>Media: Requiere conocimientos de Java/Web para personalizaciones profundas.</a:t>
                      </a:r>
                      <a:endParaRPr lang="es-MX" sz="800" dirty="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Alta: Enfocado en desarrolladores con dominio técnico de APIs y código.</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1303415957"/>
                  </a:ext>
                </a:extLst>
              </a:tr>
              <a:tr h="1082581">
                <a:tc>
                  <a:txBody>
                    <a:bodyPr/>
                    <a:lstStyle/>
                    <a:p>
                      <a:pPr algn="l">
                        <a:lnSpc>
                          <a:spcPct val="150000"/>
                        </a:lnSpc>
                        <a:spcAft>
                          <a:spcPts val="0"/>
                        </a:spcAft>
                      </a:pPr>
                      <a:r>
                        <a:rPr lang="es-MX" sz="700">
                          <a:effectLst/>
                        </a:rPr>
                        <a:t>Estándar BPMN</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Soporte completo para modelado y automatización visual.</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Soporte nativo para BPMN 2.0 y motor de ejecución robusto.</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Excelente motor BPMN 2.0 y DMN (decisiones), muy orientado a desarrolladores.</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983129008"/>
                  </a:ext>
                </a:extLst>
              </a:tr>
              <a:tr h="866064">
                <a:tc>
                  <a:txBody>
                    <a:bodyPr/>
                    <a:lstStyle/>
                    <a:p>
                      <a:pPr algn="l">
                        <a:lnSpc>
                          <a:spcPct val="150000"/>
                        </a:lnSpc>
                        <a:spcAft>
                          <a:spcPts val="0"/>
                        </a:spcAft>
                      </a:pPr>
                      <a:r>
                        <a:rPr lang="es-MX" sz="700">
                          <a:effectLst/>
                        </a:rPr>
                        <a:t>Modelo de licenciamiento</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Freemium / Pago por usuario o proyecto (Enterprise).</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a:effectLst/>
                        </a:rPr>
                        <a:t>Edición Community (gratis) y Edición Enterprise (de pago con soporte).</a:t>
                      </a:r>
                      <a:endParaRPr lang="es-MX" sz="80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tc>
                  <a:txBody>
                    <a:bodyPr/>
                    <a:lstStyle/>
                    <a:p>
                      <a:pPr algn="l">
                        <a:lnSpc>
                          <a:spcPct val="150000"/>
                        </a:lnSpc>
                        <a:spcAft>
                          <a:spcPts val="0"/>
                        </a:spcAft>
                      </a:pPr>
                      <a:r>
                        <a:rPr lang="es-MX" sz="700" dirty="0">
                          <a:effectLst/>
                        </a:rPr>
                        <a:t>Edición </a:t>
                      </a:r>
                      <a:r>
                        <a:rPr lang="es-MX" sz="700" dirty="0" err="1">
                          <a:effectLst/>
                        </a:rPr>
                        <a:t>Community</a:t>
                      </a:r>
                      <a:r>
                        <a:rPr lang="es-MX" sz="700" dirty="0">
                          <a:effectLst/>
                        </a:rPr>
                        <a:t> (open </a:t>
                      </a:r>
                      <a:r>
                        <a:rPr lang="es-MX" sz="700" dirty="0" err="1">
                          <a:effectLst/>
                        </a:rPr>
                        <a:t>source</a:t>
                      </a:r>
                      <a:r>
                        <a:rPr lang="es-MX" sz="700" dirty="0">
                          <a:effectLst/>
                        </a:rPr>
                        <a:t>) y Edición Enterprise optimizada.</a:t>
                      </a:r>
                      <a:endParaRPr lang="es-MX" sz="800" dirty="0">
                        <a:effectLst/>
                        <a:latin typeface="Arial" panose="020B0604020202020204" pitchFamily="34" charset="0"/>
                        <a:ea typeface="Calibri" panose="020F0502020204030204" pitchFamily="34" charset="0"/>
                        <a:cs typeface="Times New Roman" panose="02020603050405020304" pitchFamily="18" charset="0"/>
                      </a:endParaRPr>
                    </a:p>
                  </a:txBody>
                  <a:tcPr marL="45934" marR="45934" marT="0" marB="0"/>
                </a:tc>
                <a:extLst>
                  <a:ext uri="{0D108BD9-81ED-4DB2-BD59-A6C34878D82A}">
                    <a16:rowId xmlns:a16="http://schemas.microsoft.com/office/drawing/2014/main" val="3455969607"/>
                  </a:ext>
                </a:extLst>
              </a:tr>
            </a:tbl>
          </a:graphicData>
        </a:graphic>
      </p:graphicFrame>
      <p:sp>
        <p:nvSpPr>
          <p:cNvPr id="4" name="CuadroTexto 3"/>
          <p:cNvSpPr txBox="1"/>
          <p:nvPr/>
        </p:nvSpPr>
        <p:spPr>
          <a:xfrm>
            <a:off x="763929" y="335666"/>
            <a:ext cx="6979534" cy="369332"/>
          </a:xfrm>
          <a:prstGeom prst="rect">
            <a:avLst/>
          </a:prstGeom>
          <a:noFill/>
        </p:spPr>
        <p:txBody>
          <a:bodyPr wrap="square" rtlCol="0">
            <a:spAutoFit/>
          </a:bodyPr>
          <a:lstStyle/>
          <a:p>
            <a:r>
              <a:rPr lang="es-MX" dirty="0" smtClean="0"/>
              <a:t>Cuadro comparativo de los diferentes tipos de simuladores </a:t>
            </a:r>
            <a:endParaRPr lang="es-MX" dirty="0"/>
          </a:p>
        </p:txBody>
      </p:sp>
    </p:spTree>
    <p:extLst>
      <p:ext uri="{BB962C8B-B14F-4D97-AF65-F5344CB8AC3E}">
        <p14:creationId xmlns:p14="http://schemas.microsoft.com/office/powerpoint/2010/main" val="3174983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Conclusión </a:t>
            </a:r>
            <a:endParaRPr lang="es-MX" dirty="0"/>
          </a:p>
        </p:txBody>
      </p:sp>
      <p:sp>
        <p:nvSpPr>
          <p:cNvPr id="3" name="Marcador de contenido 2"/>
          <p:cNvSpPr>
            <a:spLocks noGrp="1"/>
          </p:cNvSpPr>
          <p:nvPr>
            <p:ph idx="1"/>
          </p:nvPr>
        </p:nvSpPr>
        <p:spPr/>
        <p:txBody>
          <a:bodyPr/>
          <a:lstStyle/>
          <a:p>
            <a:r>
              <a:rPr lang="es-MX" dirty="0"/>
              <a:t>La realización de las diferentes simulaciones demostró que </a:t>
            </a:r>
            <a:r>
              <a:rPr lang="es-MX" dirty="0"/>
              <a:t>no existe una herramienta única ideal, sino una plataforma adecuada para cada tipo de necesidad </a:t>
            </a:r>
            <a:r>
              <a:rPr lang="es-MX" dirty="0" smtClean="0"/>
              <a:t>empresarial. Si bien todas tienen sus ventajas y desventajas yo personalmente considero que </a:t>
            </a:r>
            <a:r>
              <a:rPr lang="es-MX" dirty="0" err="1" smtClean="0"/>
              <a:t>bizagi</a:t>
            </a:r>
            <a:r>
              <a:rPr lang="es-MX" dirty="0" smtClean="0"/>
              <a:t> es la mas sencilla de utilizar y es la que recurriré a utilizar sobre las demás mientras sea posible</a:t>
            </a:r>
            <a:endParaRPr lang="es-MX" dirty="0"/>
          </a:p>
        </p:txBody>
      </p:sp>
    </p:spTree>
    <p:extLst>
      <p:ext uri="{BB962C8B-B14F-4D97-AF65-F5344CB8AC3E}">
        <p14:creationId xmlns:p14="http://schemas.microsoft.com/office/powerpoint/2010/main" val="1209867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Fuentes de </a:t>
            </a:r>
            <a:r>
              <a:rPr lang="es-MX" dirty="0" err="1" smtClean="0"/>
              <a:t>informacion</a:t>
            </a:r>
            <a:endParaRPr lang="es-MX" dirty="0"/>
          </a:p>
        </p:txBody>
      </p:sp>
      <p:sp>
        <p:nvSpPr>
          <p:cNvPr id="3" name="Marcador de contenido 2"/>
          <p:cNvSpPr>
            <a:spLocks noGrp="1"/>
          </p:cNvSpPr>
          <p:nvPr>
            <p:ph idx="1"/>
          </p:nvPr>
        </p:nvSpPr>
        <p:spPr/>
        <p:txBody>
          <a:bodyPr>
            <a:normAutofit lnSpcReduction="10000"/>
          </a:bodyPr>
          <a:lstStyle/>
          <a:p>
            <a:pPr marL="0" indent="0">
              <a:buNone/>
            </a:pPr>
            <a:endParaRPr lang="es-MX" dirty="0"/>
          </a:p>
          <a:p>
            <a:r>
              <a:rPr lang="es-MX" i="1" dirty="0" err="1"/>
              <a:t>Bizagi</a:t>
            </a:r>
            <a:r>
              <a:rPr lang="es-MX" i="1" dirty="0"/>
              <a:t> - Guía de Usuario </a:t>
            </a:r>
            <a:r>
              <a:rPr lang="es-MX" i="1" dirty="0" err="1"/>
              <a:t>Platform</a:t>
            </a:r>
            <a:r>
              <a:rPr lang="es-MX" dirty="0"/>
              <a:t>. (s/f). Bizagi.com. Recuperado el 5 de octubre de 2026, de https://help.bizagi.com/platform/es/index.html?my_first_model.htm</a:t>
            </a:r>
          </a:p>
          <a:p>
            <a:r>
              <a:rPr lang="es-MX" i="1" dirty="0" err="1"/>
              <a:t>Getting</a:t>
            </a:r>
            <a:r>
              <a:rPr lang="es-MX" i="1" dirty="0"/>
              <a:t> </a:t>
            </a:r>
            <a:r>
              <a:rPr lang="es-MX" i="1" dirty="0" err="1"/>
              <a:t>started</a:t>
            </a:r>
            <a:r>
              <a:rPr lang="es-MX" i="1" dirty="0"/>
              <a:t> tutorial</a:t>
            </a:r>
            <a:r>
              <a:rPr lang="es-MX" dirty="0"/>
              <a:t>. (s/f). Ofelia.com. Recuperado el 5 de octubre de 2026, de https://documentation.ofelia.com/bonita/latest/getting-started/getting-started-index</a:t>
            </a:r>
          </a:p>
          <a:p>
            <a:r>
              <a:rPr lang="es-MX" dirty="0"/>
              <a:t>Mora, R. C. (2014, abril 29). </a:t>
            </a:r>
            <a:r>
              <a:rPr lang="es-MX" i="1" dirty="0"/>
              <a:t>Primeros pasos con Bonita BPM </a:t>
            </a:r>
            <a:r>
              <a:rPr lang="es-MX" i="1" dirty="0" err="1"/>
              <a:t>Community</a:t>
            </a:r>
            <a:r>
              <a:rPr lang="es-MX" i="1" dirty="0"/>
              <a:t> 6.2.6</a:t>
            </a:r>
            <a:r>
              <a:rPr lang="es-MX" dirty="0"/>
              <a:t>. Adictos al trabajo. https://adictosaltrabajo.com/2014/04/29/bonita-bpm-primeros-pasos/</a:t>
            </a:r>
          </a:p>
          <a:p>
            <a:r>
              <a:rPr lang="es-MX" dirty="0"/>
              <a:t>Perfil, V. (s/f). </a:t>
            </a:r>
            <a:r>
              <a:rPr lang="es-MX" i="1" dirty="0"/>
              <a:t>Primeros pasos con </a:t>
            </a:r>
            <a:r>
              <a:rPr lang="es-MX" i="1" dirty="0" err="1"/>
              <a:t>Camunda</a:t>
            </a:r>
            <a:r>
              <a:rPr lang="es-MX" i="1" dirty="0"/>
              <a:t> BPM</a:t>
            </a:r>
            <a:r>
              <a:rPr lang="es-MX" dirty="0"/>
              <a:t>. Blogspot.com. Recuperado el 5 de octubre de 2026, de https://pigbar-hal9k.blogspot.com/2016/11/primeros-pasos-con-camunda-bpm.html</a:t>
            </a:r>
          </a:p>
        </p:txBody>
      </p:sp>
    </p:spTree>
    <p:extLst>
      <p:ext uri="{BB962C8B-B14F-4D97-AF65-F5344CB8AC3E}">
        <p14:creationId xmlns:p14="http://schemas.microsoft.com/office/powerpoint/2010/main" val="2471224315"/>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78</TotalTime>
  <Words>1117</Words>
  <Application>Microsoft Office PowerPoint</Application>
  <PresentationFormat>Panorámica</PresentationFormat>
  <Paragraphs>74</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Times New Roman</vt:lpstr>
      <vt:lpstr>Trebuchet MS</vt:lpstr>
      <vt:lpstr>Wingdings 3</vt:lpstr>
      <vt:lpstr>Faceta</vt:lpstr>
      <vt:lpstr>Presentación de PowerPoint</vt:lpstr>
      <vt:lpstr>Introducción </vt:lpstr>
      <vt:lpstr>Justificación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vt:lpstr>
      <vt:lpstr>Fuentes de informacion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8</cp:revision>
  <dcterms:created xsi:type="dcterms:W3CDTF">2026-10-04T23:28:09Z</dcterms:created>
  <dcterms:modified xsi:type="dcterms:W3CDTF">2026-10-05T00:46:35Z</dcterms:modified>
</cp:coreProperties>
</file>